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3291840" cy="320040"/>
          </a:xfrm>
          <a:prstGeom prst="roundRect">
            <a:avLst/>
          </a:prstGeom>
          <a:solidFill>
            <a:srgbClr val="1E3A8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TUGAS REKAYASA PERANGKAT LUNAK &amp; PAW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Rancang Bangun Aplikasi Chatbot pada Catering Makanan</a:t>
            </a:r>
          </a:p>
          <a:p>
            <a:pPr>
              <a:spcBef>
                <a:spcPts val="600"/>
              </a:spcBef>
              <a:defRPr sz="1700" b="1">
                <a:solidFill>
                  <a:srgbClr val="F59E0B"/>
                </a:solidFill>
              </a:defRPr>
            </a:pPr>
            <a:r>
              <a:t>Pemodelan Diagram Sistem: Arsitektur, Use Case, Activity, Sequence, Class &amp; ERD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Studi Kasus: UMKM Catering Bu Sumiyati (Jurnal Detika, Vol. 6 No. 1, Desember 2025)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24688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Ilham Fadhilah</a:t>
            </a:r>
          </a:p>
          <a:p>
            <a:pPr>
              <a:spcBef>
                <a:spcPts val="300"/>
              </a:spcBef>
              <a:defRPr sz="1100">
                <a:solidFill>
                  <a:srgbClr val="38BDF8"/>
                </a:solidFill>
              </a:defRPr>
            </a:pPr>
            <a:r>
              <a:t>NIM: 20200140100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</a:defRPr>
            </a:pPr>
            <a:r>
              <a:t>Arsitektur &amp; Integrasi Sistem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4114800"/>
            <a:ext cx="24688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Danar Rohman Rozaqi</a:t>
            </a:r>
          </a:p>
          <a:p>
            <a:pPr>
              <a:spcBef>
                <a:spcPts val="300"/>
              </a:spcBef>
              <a:defRPr sz="1100">
                <a:solidFill>
                  <a:srgbClr val="38BDF8"/>
                </a:solidFill>
              </a:defRPr>
            </a:pPr>
            <a:r>
              <a:t>NIM: 20240140233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</a:defRPr>
            </a:pPr>
            <a:r>
              <a:t>Use Case &amp; Activity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24688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M.Ikhlasul</a:t>
            </a:r>
          </a:p>
          <a:p>
            <a:pPr>
              <a:spcBef>
                <a:spcPts val="300"/>
              </a:spcBef>
              <a:defRPr sz="1100">
                <a:solidFill>
                  <a:srgbClr val="38BDF8"/>
                </a:solidFill>
              </a:defRPr>
            </a:pPr>
            <a:r>
              <a:t>NIM: 20240140234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</a:defRPr>
            </a:pPr>
            <a:r>
              <a:t>Sequence &amp; Class Diagram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4114800"/>
            <a:ext cx="24688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Anandya Arlys F</a:t>
            </a:r>
          </a:p>
          <a:p>
            <a:pPr>
              <a:spcBef>
                <a:spcPts val="300"/>
              </a:spcBef>
              <a:defRPr sz="1100">
                <a:solidFill>
                  <a:srgbClr val="38BDF8"/>
                </a:solidFill>
              </a:defRPr>
            </a:pPr>
            <a:r>
              <a:t>NIM: 20240140002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</a:defRPr>
            </a:pPr>
            <a:r>
              <a:t>Entity Relationship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Pemrograman Berbasis Web (PAW) • Kelompok 3 (Kelas A) — CateringBot AI Bu Sumiyati                    Slide 1 dari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KONTEKS PENELITIAN &amp; ANALISIS KEBUTUHAN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Latar Belakang Masalah &amp; Urgensi Solusi Chatbot UMKM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B91C1C"/>
                </a:solidFill>
              </a:defRPr>
            </a:pPr>
            <a:r>
              <a:t>🔴 Permasalahan UMKM Katering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Tingginya beban kerja staf dalam melayani pertanyaan berulang (menu, harga, jadwal) secara manual.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Waktu respon lambat saat jam sibuk berakibat hilangnya 40% calon pelanggan potensial.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Pencatatan pesanan manual rentan salah input jumlah porsi, alamat, maupun tanggal acara.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Pelanggan enggan mengunduh aplikasi berukuran besar hanya untuk memesan makanan sesekali.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284C7"/>
                </a:solidFill>
              </a:defRPr>
            </a:pPr>
            <a:r>
              <a:t>💡 Solusi yang Diajukan (CateringBot)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Aplikasi Chatbot Web 'Zero-Installation' yang diakses langsung melalui peramban web smartphone/desktop.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Arsitektur Hibrida: Rule-Based untuk kepastian formulir order dan NLP Naïve Bayes untuk percakapan bebas.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Otomasi Validasi: Pengecekan minimal porsi, jadwal pengantaran, dan estimasi biaya secara otomatis.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Integrasi WhatsApp API Gateway untuk konfirmasi invoice instan ke dapur pengelola katering.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0B981"/>
                </a:solidFill>
              </a:defRPr>
            </a:pPr>
            <a:r>
              <a:t>📊 Hasil Pengujian Teruji (Riset)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Akurasi Intent 87%: Teruji melalui Blackbox Testing &amp; Confusion Matrix pada domain katering.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Waktu Respon 2,3 Detik: Waktu olah pesan rata-rata sangat cepat memangkas antrean manual.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Kenaikan Efisiensi 60%: Mempercepat siklus pemesanan makanan dari awal hingga konfirmasi.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Penurunan Beban CS 40%: Staf UMKM Bu Sumiyati dapat lebih fokus pada mutu masakan dan produksi.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Pemrograman Berbasis Web (PAW) • Kelompok 3 (Kelas A) — CateringBot AI Bu Sumiyati                    Slide 2 dari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DIAGRAM 1 • ARSITEKTUR PERANGKAT LUNAK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Arsitektur Sistem 4-Lapisan (Layered Architecture)</a:t>
            </a:r>
          </a:p>
        </p:txBody>
      </p:sp>
      <p:pic>
        <p:nvPicPr>
          <p:cNvPr id="5" name="Picture 4" descr="system-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371600"/>
            <a:ext cx="521208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1. User Interface (UI) Layer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Widget Chatbot peramban web responsif (HTML5/CSS3) &amp; Dashboard manajemen admin Bu Sumiyati.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14600"/>
            <a:ext cx="521208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2. Processing Layer (AI Engine)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Hybrid NLP: Naïve Bayes Classifier + TF-IDF Vectorizer untuk intent detection dan Rule-Based untuk form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521208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E22CE"/>
                </a:solidFill>
              </a:defRPr>
            </a:pPr>
            <a:r>
              <a:t>3. Data Layer (Penyimpanan)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Database relasional untuk katalog menu (nasi kotak, prasmanan), basis pengetahuan (FAQ), dan transaksi pesanan.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800600"/>
            <a:ext cx="521208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4. Integration Layer (API Gateway)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Jembatan API ke WhatsApp Business API dan notifikasi webhook untuk finalisasi pesanan instan ke pengelola.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Pemrograman Berbasis Web (PAW) • Kelompok 3 (Kelas A) — CateringBot AI Bu Sumiyati                    Slide 3 dari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DIAGRAM 2A • PEMODELAN FUNGSIONALITAS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Use Case Diagram: Interaksi Aktor &amp; Sistem Chatbot</a:t>
            </a:r>
          </a:p>
        </p:txBody>
      </p:sp>
      <p:pic>
        <p:nvPicPr>
          <p:cNvPr id="5" name="Picture 4" descr="use-case-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85216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371600"/>
            <a:ext cx="45720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Identifikasi Aktor &amp; Batasan Sistem</a:t>
            </a:r>
          </a:p>
          <a:p>
            <a:pPr>
              <a:spcBef>
                <a:spcPts val="1000"/>
              </a:spcBef>
              <a:defRPr sz="1150" b="1">
                <a:solidFill>
                  <a:srgbClr val="1E3A8A"/>
                </a:solidFill>
              </a:defRPr>
            </a:pPr>
            <a:r>
              <a:t>Aktor 1: Pelanggan (Customer)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Pengguna akhir yang mengakses web tanpa login/instalasi. Melakukan konsultasi paket katering, cek tanggal acara, input formulir pesanan, dan terima invoice.</a:t>
            </a:r>
          </a:p>
          <a:p>
            <a:pPr>
              <a:spcBef>
                <a:spcPts val="1000"/>
              </a:spcBef>
              <a:defRPr sz="1150" b="1">
                <a:solidFill>
                  <a:srgbClr val="10B981"/>
                </a:solidFill>
              </a:defRPr>
            </a:pPr>
            <a:r>
              <a:t>Aktor 2: Admin Katering Bu Sumiyati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Pengelola operasional UMKM yang mengelola katalog menu, memvalidasi ketersediaan jadwal dapur, konfirmasi pembayaran, serta update template respon bot.</a:t>
            </a:r>
          </a:p>
          <a:p>
            <a:pPr>
              <a:spcBef>
                <a:spcPts val="1000"/>
              </a:spcBef>
              <a:defRPr sz="1150" b="1">
                <a:solidFill>
                  <a:srgbClr val="0284C7"/>
                </a:solidFill>
              </a:defRPr>
            </a:pPr>
            <a:r>
              <a:t>Fitur Utama Terpetakan: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1. Konsultasi Menu &amp; Rekomendasi (NLP)</a:t>
            </a:r>
            <a:br/>
            <a:r>
              <a:t>2. Cek Ketersediaan Jadwal Acara</a:t>
            </a:r>
            <a:br/>
            <a:r>
              <a:t>3. Pemesanan Nasi Kotak &amp; Prasmanan</a:t>
            </a:r>
            <a:br/>
            <a:r>
              <a:t>4. Kalkulasi Total Biaya &amp; Diskon Porsi</a:t>
            </a:r>
            <a:br/>
            <a:r>
              <a:t>5. Penerusan Invoice via WhatsApp API</a:t>
            </a:r>
            <a:br/>
            <a:r>
              <a:t>6. Manajemen Menu &amp; Laporan Transaksi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Pemrograman Berbasis Web (PAW) • Kelompok 3 (Kelas A) — CateringBot AI Bu Sumiyati                    Slide 4 dari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DIAGRAM 2B • SPESIFIKASI FUNGSIONALITAS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Tabel Deskripsi Skenario Use Case Utama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377440"/>
                <a:gridCol w="1188720"/>
                <a:gridCol w="3017520"/>
                <a:gridCol w="31089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Kode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Nama Use Case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Aktor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Skenario Alur Utama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Hasil Akhir / Post-condition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UC-01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Konsultasi Menu &amp; Rekomendasi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Pelanggan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Pelanggan mengetik pertanyaan variatif seputar rekomendasi menu katering.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NLP Naïve Bayes mengenali intent pertanyaan dan membalas dengan rekomendasi paket.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UC-02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Pemesanan &amp; Reservasi Menu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Pelanggan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Pelanggan memilih paket (nasi kotak/prasmanan/tumpeng) dan mengisi jumlah porsi.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Sistem memvalidasi jumlah porsi minimum dan menampilkan kalkulasi total biaya.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UC-03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Cek Jadwal &amp; Tanggal Acara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Pelanggan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Pelanggan memasukkan tanggal pelaksanaan acara hajatan / syukuran.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Sistem memeriksa slot produksi katering pada tanggal tersebut apakah masih tersedia.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UC-04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Dispatch Notifikasi WhatsApp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Sistem / WA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Data pesanan telah lengkap dan divalidasi oleh pelanggan.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Sistem menyusun payload ringkasan pesanan dan mengirimkannya ke WhatsApp admin UMKM.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UC-05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Konfirmasi Pesanan &amp; Pembayaran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Admin menerima pesan WhatsApp berisi rincian pesanan dan bukti DP pelanggan.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Admin mengunci jadwal di kalender dapur dan mengubah status pesanan menjadi 'Dikonfirmasi'.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Pemrograman Berbasis Web (PAW) • Kelompok 3 (Kelas A) — CateringBot AI Bu Sumiyati                    Slide 5 dari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DIAGRAM 3A • PEMODELAN PERILAKU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Activity Diagram: Alur Eksekusi Konsultasi &amp; Pemesanan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PELANGGAN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25603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1371600"/>
            <a:ext cx="2560320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CHATBOT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737360"/>
            <a:ext cx="25603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371600"/>
            <a:ext cx="2651760" cy="36576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PROCESSING (NLP / RULE)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737360"/>
            <a:ext cx="2651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0" y="1371600"/>
            <a:ext cx="265176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ADMIN &amp; WHATSAPP GATEWAY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737360"/>
            <a:ext cx="2651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1874519"/>
            <a:ext cx="274320" cy="27432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2286000"/>
            <a:ext cx="2194560" cy="594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1. Buka Web &amp; Ketik Pertanyaan / Pesanan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2286000"/>
            <a:ext cx="2194560" cy="594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2. Teruskan Input Teks ke Processing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2194560" cy="594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3. Tokenisasi, TF-IDF &amp; Klasifikasi Naïve Bayes</a:t>
            </a:r>
          </a:p>
        </p:txBody>
      </p:sp>
      <p:sp>
        <p:nvSpPr>
          <p:cNvPr id="17" name="Hexagon 16"/>
          <p:cNvSpPr/>
          <p:nvPr/>
        </p:nvSpPr>
        <p:spPr>
          <a:xfrm>
            <a:off x="6217920" y="3017520"/>
            <a:ext cx="2194560" cy="457200"/>
          </a:xfrm>
          <a:prstGeom prst="hexagon">
            <a:avLst/>
          </a:prstGeom>
          <a:solidFill>
            <a:srgbClr val="F1F5F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Intent = Order?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3017520"/>
            <a:ext cx="2194560" cy="594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Ambil Jawaban FAQ dari Basis Pengetahuan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3749039"/>
            <a:ext cx="2194560" cy="594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4. Tampilkan Form Pemesanan Terstruktur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749039"/>
            <a:ext cx="2194560" cy="594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5. Isi Form: Porsi, Tgl Acara &amp; Lokasi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2194560" cy="594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6. Validasi Input &amp; Hitung Total Biaya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4480560"/>
            <a:ext cx="2194560" cy="594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7. Susun Format Pesanan &amp; Kirim via WhatsApp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5212080"/>
            <a:ext cx="2194560" cy="594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8. Admin Validasi Jadwal Dapur &amp; Kirim Konfirmasi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212080"/>
            <a:ext cx="2194560" cy="594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9. Pelanggan Menerima Rincian Invoice di WA</a:t>
            </a:r>
          </a:p>
        </p:txBody>
      </p:sp>
      <p:sp>
        <p:nvSpPr>
          <p:cNvPr id="25" name="Oval 24"/>
          <p:cNvSpPr/>
          <p:nvPr/>
        </p:nvSpPr>
        <p:spPr>
          <a:xfrm>
            <a:off x="1828800" y="589788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865376" y="5934456"/>
            <a:ext cx="201168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Pemrograman Berbasis Web (PAW) • Kelompok 3 (Kelas A) — CateringBot AI Bu Sumiyati                    Slide 6 dari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DIAGRAM 3B • PEMODELAN INTERAKSI OBJEK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Sequence Diagram: Alur Eksekusi Pemesanan Makanan Realtime</a:t>
            </a:r>
          </a:p>
        </p:txBody>
      </p:sp>
      <p:pic>
        <p:nvPicPr>
          <p:cNvPr id="5" name="Picture 4" descr="sequence-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85216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371600"/>
            <a:ext cx="45720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Penjelasan Rangkaian Interaksi Objek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1. kirimPesan(): Pelanggan menginput teks percakapan di antarmuka browser ChatWidget UI.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2. parseTeks(): ChatWidget mengirimkan raw text ke DialogManager untuk normalisasi teks.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3. classifyIntent(): DialogManager memanggil NLPClassifier (Naïve Bayes + TF-IDF) untuk mengenali maksud.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4. queryMenuHarga(): Jika intent adalah pemesanan, sistem mengambil daftar menu &amp; harga dari Database.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5. renderFormOrder(): ChatWidget menampilkan formulir pemilihan porsi &amp; tanggal acara terstruktur.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6. submitOrder(): Pelanggan mengirim data pesanan lengkap yang sudah tervalidasi.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7. simpanPesanan(): DialogManager menyimpan transaksi pesanan ke Database relasional.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8. sendWhatsAppAlert(): Sistem memanggil WhatsAppGateway untuk meneruskan invoice resmi ke Admin.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Pemrograman Berbasis Web (PAW) • Kelompok 3 (Kelas A) — CateringBot AI Bu Sumiyati                    Slide 7 dari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DIAGRAM 4A • PEMODELAN STRUKTURAL OBJEK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Class Diagram: Struktur Kelas &amp; Relasi Berorientasi Objek</a:t>
            </a:r>
          </a:p>
        </p:txBody>
      </p:sp>
      <p:pic>
        <p:nvPicPr>
          <p:cNvPr id="5" name="Picture 4" descr="class-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85216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371600"/>
            <a:ext cx="45720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Analisis Struktur Objek &amp; Multiplicity</a:t>
            </a:r>
          </a:p>
          <a:p>
            <a:pPr>
              <a:spcBef>
                <a:spcPts val="800"/>
              </a:spcBef>
              <a:defRPr sz="1100" b="1">
                <a:solidFill>
                  <a:srgbClr val="1E3A8A"/>
                </a:solidFill>
              </a:defRPr>
            </a:pPr>
            <a:r>
              <a:t>• Entitas Pelanggan &amp; Pesanan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  Pelanggan memiliki relasi 1 to 1..* dengan Pesanan (seorang pelanggan dapat membuat banyak pesanan katering).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• Komposisi Pesanan &amp; Detail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  Pesanan memiliki relasi komposisi 1 to 1..* dengan DetailPesanan (setiap pesanan terdiri dari satu atau lebih menu makanan).</a:t>
            </a:r>
          </a:p>
          <a:p>
            <a:pPr>
              <a:spcBef>
                <a:spcPts val="800"/>
              </a:spcBef>
              <a:defRPr sz="1100" b="1">
                <a:solidFill>
                  <a:srgbClr val="7E22CE"/>
                </a:solidFill>
              </a:defRPr>
            </a:pPr>
            <a:r>
              <a:t>• Asosiasi Menu &amp; Kategori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  KategoriMenu mengelompokkan MenuKatering dengan relasi 1 to 1..* (contoh: Nasi Kotak, Prasmanan, Tumpeng, Snack Box).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</a:defRPr>
            </a:pPr>
            <a:r>
              <a:t>• Integrasi Engine &amp; Layanan WA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  ChatbotEngine berasosiasi dengan WhatsAppService untuk memicu webhook notifikasi setelah pesanan berhasil divalidasi.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Pemrograman Berbasis Web (PAW) • Kelompok 3 (Kelas A) — CateringBot AI Bu Sumiyati                    Slide 8 dari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DIAGRAM 4B • SPESIFIKASI KELAS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Kamus Detail Atribut &amp; Metode Class Diagram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91840"/>
                <a:gridCol w="3200400"/>
                <a:gridCol w="256032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Nama Kelas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Atribut (Properties)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Metode (Operations)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Deskripsi Tanggung Jawab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Pelanggan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- id_pelanggan: int</a:t>
                      </a:r>
                      <a:br/>
                      <a:r>
                        <a:t>- nama: string</a:t>
                      </a:r>
                      <a:br/>
                      <a:r>
                        <a:t>- nomor_wa: string</a:t>
                      </a:r>
                      <a:br/>
                      <a:r>
                        <a:t>- alamat: 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+ register(): bool</a:t>
                      </a:r>
                      <a:br/>
                      <a:r>
                        <a:t>+ updateProfil(): void</a:t>
                      </a:r>
                      <a:br/>
                      <a:r>
                        <a:t>+ kirimPesan(teks): void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Mewakili entitas konsumen pemesan katering.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Pesanan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- id_pesanan: int</a:t>
                      </a:r>
                      <a:br/>
                      <a:r>
                        <a:t>- tgl_pesanan: date</a:t>
                      </a:r>
                      <a:br/>
                      <a:r>
                        <a:t>- total_harga: decimal</a:t>
                      </a:r>
                      <a:br/>
                      <a:r>
                        <a:t>- status: 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+ buatPesanan(): Order</a:t>
                      </a:r>
                      <a:br/>
                      <a:r>
                        <a:t>+ updateStatus(): void</a:t>
                      </a:r>
                      <a:br/>
                      <a:r>
                        <a:t>+ hitungTotal(): decimal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Menyimpan header transaksi pemesanan makanan.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DetailPesanan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- id_detail: int</a:t>
                      </a:r>
                      <a:br/>
                      <a:r>
                        <a:t>- kuantitas: int</a:t>
                      </a:r>
                      <a:br/>
                      <a:r>
                        <a:t>- harga_satuan: decimal</a:t>
                      </a:r>
                      <a:br/>
                      <a:r>
                        <a:t>- menu: MenuKatering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+ getSubtotal(): decimal</a:t>
                      </a:r>
                      <a:br/>
                      <a:r>
                        <a:t>+ validasiMinPorsi(): 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Baris rincian item menu dan kuantitas per pesanan.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MenuKatering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- id_menu: int</a:t>
                      </a:r>
                      <a:br/>
                      <a:r>
                        <a:t>- nama_menu: string</a:t>
                      </a:r>
                      <a:br/>
                      <a:r>
                        <a:t>- deskripsi: text</a:t>
                      </a:r>
                      <a:br/>
                      <a:r>
                        <a:t>- harga: decimal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+ getDetailMenu(): dict</a:t>
                      </a:r>
                      <a:br/>
                      <a:r>
                        <a:t>+ updateHarga(): void</a:t>
                      </a:r>
                      <a:br/>
                      <a:r>
                        <a:t>+ cekStok(): bool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Katalog produk makanan katering yang ditawarkan.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ChatbotEngine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- id_chatbot: int</a:t>
                      </a:r>
                      <a:br/>
                      <a:r>
                        <a:t>- threshold: float</a:t>
                      </a:r>
                      <a:br/>
                      <a:r>
                        <a:t>- model_path: 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+ prosesPesan(input): str</a:t>
                      </a:r>
                      <a:br/>
                      <a:r>
                        <a:t>+ classifyIntent(): str</a:t>
                      </a:r>
                      <a:br/>
                      <a:r>
                        <a:t>+ responPesan(): str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Engine pemrosesan NLP Naïve Bayes &amp; TF-IDF.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WhatsAppService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- api_key: string</a:t>
                      </a:r>
                      <a:br/>
                      <a:r>
                        <a:t>- endpoint_url: string</a:t>
                      </a:r>
                      <a:br/>
                      <a:r>
                        <a:t>- status_service: enum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+ kirimPesan(payload): bool</a:t>
                      </a:r>
                      <a:br/>
                      <a:r>
                        <a:t>+ sendOrderAlert(): void</a:t>
                      </a:r>
                      <a:br/>
                      <a:r>
                        <a:t>+ handleInbound(): void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Gateway integrasi notifikasi ke nomor WhatsApp admin.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Pemrograman Berbasis Web (PAW) • Kelompok 3 (Kelas A) — CateringBot AI Bu Sumiyati                    Slide 9 dari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DIAGRAM 5A • PEMODELAN BASIS DATA RELASIONAL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Entity Relationship Diagram (ERD) Skema Database Katering</a:t>
            </a:r>
          </a:p>
        </p:txBody>
      </p:sp>
      <p:pic>
        <p:nvPicPr>
          <p:cNvPr id="5" name="Picture 4" descr="erd-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85216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371600"/>
            <a:ext cx="45720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Pemodelan Relasi &amp; Integritas Data</a:t>
            </a:r>
          </a:p>
          <a:p>
            <a:pPr>
              <a:spcBef>
                <a:spcPts val="600"/>
              </a:spcBef>
              <a:defRPr sz="1050" b="1">
                <a:solidFill>
                  <a:srgbClr val="1E3A8A"/>
                </a:solidFill>
              </a:defRPr>
            </a:pPr>
            <a:r>
              <a:t>• PELANGGAN (1) ── (N) PESANAN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  Setiap pelanggan dapat melakukan banyak pesanan. Foreign Key: 'id_pelanggan' di tabel PESANAN menjamin integritas riwayat transaksi pembeli.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</a:defRPr>
            </a:pPr>
            <a:r>
              <a:t>• PESANAN (1) ── (N) DETAIL_PESANAN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  Satu transaksi pesanan dipecah menjadi beberapa item menu melalui tabel DETAIL_PESANAN untuk mendukung variasi menu dan porsi.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</a:defRPr>
            </a:pPr>
            <a:r>
              <a:t>• MENU_MAKANAN (1) ── (N) DETAIL_PESANAN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  Satu menu makanan dapat dipesan oleh banyak pesanan yang berbeda. Memiliki relasi Many-to-Many antara PESANAN dan MENU.</a:t>
            </a:r>
          </a:p>
          <a:p>
            <a:pPr>
              <a:spcBef>
                <a:spcPts val="600"/>
              </a:spcBef>
              <a:defRPr sz="1050" b="1">
                <a:solidFill>
                  <a:srgbClr val="7E22CE"/>
                </a:solidFill>
              </a:defRPr>
            </a:pPr>
            <a:r>
              <a:t>• KATEGORI_MENU (1) ── (N) MENU_MAKANAN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  Kategori memudahkan pengelompokan jenis hidangan (prasmanan, tumpeng, bento/box) untuk katalog chatbot.</a:t>
            </a:r>
          </a:p>
          <a:p>
            <a:pPr>
              <a:spcBef>
                <a:spcPts val="600"/>
              </a:spcBef>
              <a:defRPr sz="1050" b="1">
                <a:solidFill>
                  <a:srgbClr val="0284C7"/>
                </a:solidFill>
              </a:defRPr>
            </a:pPr>
            <a:r>
              <a:t>• PELANGGAN (1) ── (N) RIWAYAT_CHAT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  Mencatat setiap sesi percakapan, intent yang terdeteksi, dan respon bot untuk keperluan evaluasi model NLP berkala.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Pemrograman Berbasis Web (PAW) • Kelompok 3 (Kelas A) — CateringBot AI Bu Sumiyati                    Slide 10 dari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DIAGRAM 5B • STRUKTUR FISIK BASIS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Kamus Data Fisik &amp; Normalisasi Database (3NF)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828800"/>
                <a:gridCol w="3383280"/>
                <a:gridCol w="18288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Nama Tabel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Primary Key (PK)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Foreign Key (FK)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Atribut Tambahan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Fungsi Tabel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PELANGGAN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id_pelanggan (INT - 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nama (VARCHAR), no_hp (VARCHAR), alamat (TEXT), email (VARCHAR)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Master data profil konsumen pemesan.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PESANAN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id_pesanan (INT - PK)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id_pelanggan (FK)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tgl_pesanan (DATE), tgl_acara (DATE), total_harga (DECIMAL), status (VARCHAR)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Header transaksi pesanan katering.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DETAIL_PESANAN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id_detail (INT - 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id_pesanan (FK), id_menu (FK)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quantity (INT), harga_satuan (DECIMAL), subtotal (DECIMAL)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Tabel penghubung Many-to-Many pesanan &amp; menu.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MENU_MAKANAN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id_menu (INT - PK)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id_kategori (FK)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nama_menu (VARCHAR), deskripsi (TEXT), harga (DECIMAL), stok (INT)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Master data hidangan dan harga katering.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KATEGORI_MENU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id_kategori (INT - 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nama_kategori (VARCHAR), deskripsi (TEXT)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Klasifikasi paket (Nasi Kotak, Prasmanan, dll).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RIWAYAT_CHAT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id_chat (INT - PK)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id_pelanggan (FK)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pesan (TEXT), respon_bot (TEXT), intent (VARCHAR), tgl_kirim (DATETIME)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Log interaksi percakapan NLU pelanggan.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id_admin (INT - 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nama (VARCHAR), username (VARCHAR), password_hash (VARCHAR), level (VARCHAR)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Data otentikasi pengelola katering Bu Sumiyati.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Pemrograman Berbasis Web (PAW) • Kelompok 3 (Kelas A) — CateringBot AI Bu Sumiyati                    Slide 11 dari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PENUTUP &amp; REKAPITULASI PENUGASAN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Kesimpulan Pemodelan Sistem &amp; Tautan Proyek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🎯 Kesimpulan Pemodelan Sistem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✔ Arsitektur 4-Lapisan memastikan skalabilitas dan isolasi kegagalan antar antarmuka web, pemrosesan NLP, dan gateway WhatsApp.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✔ Use Case &amp; Activity Diagram membuktikan alur pemesanan makanan terotomasi dalam 3 langkah mudah tanpa friksi unduh aplikasi.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✔ Sequence Diagram mendokumentasikan koordinasi komponen dengan latensi rata-rata 2,3 detik dan akurasi intent 87%.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✔ Class Diagram &amp; ERD menghasilkan arsitektur data terstruktur ternormalisasi (3NF) untuk menangani pesanan, menu, dan log chat.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✔ Sistem ini siap diimplementasikan untuk meningkatkan efisiensi operasional UMKM katering hingga 60%.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🌐 Tautan Repositori &amp; Live Deployment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Live Website (GitHub Pages):</a:t>
            </a:r>
          </a:p>
          <a:p>
            <a:pPr>
              <a:spcBef>
                <a:spcPts val="200"/>
              </a:spcBef>
              <a:defRPr sz="950">
                <a:solidFill>
                  <a:srgbClr val="38BDF8"/>
                </a:solidFill>
              </a:defRPr>
            </a:pPr>
            <a:r>
              <a:t>   https://zowiedrid.github.io/PAW-Week2-Kelompok3-KelasA/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Repositori Kode (GitHub):</a:t>
            </a:r>
          </a:p>
          <a:p>
            <a:pPr>
              <a:spcBef>
                <a:spcPts val="200"/>
              </a:spcBef>
              <a:defRPr sz="950">
                <a:solidFill>
                  <a:srgbClr val="38BDF8"/>
                </a:solidFill>
              </a:defRPr>
            </a:pPr>
            <a:r>
              <a:t>   https://github.com/zowiedrid/PAW-Week2-Kelompok3-KelasA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Landing Page Jurnal (Tugas 2):</a:t>
            </a:r>
          </a:p>
          <a:p>
            <a:pPr>
              <a:spcBef>
                <a:spcPts val="200"/>
              </a:spcBef>
              <a:defRPr sz="950">
                <a:solidFill>
                  <a:srgbClr val="38BDF8"/>
                </a:solidFill>
              </a:defRPr>
            </a:pPr>
            <a:r>
              <a:t>   .../landing-jurnal.html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Landing Page Layanan Katering:</a:t>
            </a:r>
          </a:p>
          <a:p>
            <a:pPr>
              <a:spcBef>
                <a:spcPts val="200"/>
              </a:spcBef>
              <a:defRPr sz="950">
                <a:solidFill>
                  <a:srgbClr val="38BDF8"/>
                </a:solidFill>
              </a:defRPr>
            </a:pPr>
            <a:r>
              <a:t>   .../landing-layanan.html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• Jurnal Referensi (DOI):</a:t>
            </a:r>
          </a:p>
          <a:p>
            <a:pPr>
              <a:spcBef>
                <a:spcPts val="200"/>
              </a:spcBef>
              <a:defRPr sz="950">
                <a:solidFill>
                  <a:srgbClr val="38BDF8"/>
                </a:solidFill>
              </a:defRPr>
            </a:pPr>
            <a:r>
              <a:t>   10.24176/detika.v6i1.15814 (Detika 2025)</a:t>
            </a:r>
          </a:p>
          <a:p>
            <a:pPr algn="ctr"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Sekian dan terima kasih. Presentasi siap didemokan!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Pemrograman Berbasis Web (PAW) • Kelompok 3 (Kelas A) — CateringBot AI Bu Sumiyati                    Slide 12 dari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